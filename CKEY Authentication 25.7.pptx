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2" r:id="rId7"/>
    <p:sldId id="263" r:id="rId8"/>
    <p:sldId id="258" r:id="rId9"/>
    <p:sldId id="259" r:id="rId10"/>
    <p:sldId id="264" r:id="rId11"/>
    <p:sldId id="261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847" autoAdjust="0"/>
  </p:normalViewPr>
  <p:slideViewPr>
    <p:cSldViewPr snapToGrid="0">
      <p:cViewPr varScale="1">
        <p:scale>
          <a:sx n="94" d="100"/>
          <a:sy n="94" d="100"/>
        </p:scale>
        <p:origin x="182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2C329-F627-4704-936E-820EE2E464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1F419-C2BE-44F8-8EBD-EDE9B9BA2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92F34-9DE9-46F3-AA43-CB48A381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2848-31AF-4AB0-BBA1-CC69ABBD549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F78A-E679-4E98-A6EE-31A6B481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E2DF5-DE29-4AC2-9AF6-7F5025E7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397D5-B8FA-4146-9268-5410D101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1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7394D-ADB5-4ECF-A884-F79C06EDF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5B8D1-E34F-45E6-899E-A512A9299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ABAB4-A238-4F9A-A477-E327BF6B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2848-31AF-4AB0-BBA1-CC69ABBD549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0B84C-5183-418B-B451-06F819E0E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DDC14-1CBD-4BEF-9D11-C5CE52FC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397D5-B8FA-4146-9268-5410D101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987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FF346-E534-4BA5-A7F7-106DDE8B4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749E1-59C7-4987-B385-5A1712A81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15377-3DCA-4282-BE3A-429C735CF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2848-31AF-4AB0-BBA1-CC69ABBD549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FDE7C-E88D-478F-9AD7-68AA10F8E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C0C63-FA66-473D-80BC-6C7B3D6D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397D5-B8FA-4146-9268-5410D101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84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5D04A-C22D-4194-908B-55DA35D7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32A63-F40F-4B46-912E-1A687BE73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77625-A8E2-4546-BC8C-FD69EC309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08919-DF14-4BC5-B0FD-1CC0FCCA8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2848-31AF-4AB0-BBA1-CC69ABBD549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4705F-C96B-49E0-8DA3-8C82FB48B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E2DE5-D094-4C33-9356-A2B81AC36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397D5-B8FA-4146-9268-5410D101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91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0759C-8427-466D-B39E-EB52C5BAA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41892-4131-425F-ABD8-3274C36E3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46E41-2583-4ADC-93E9-2B2DFC758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1A46C-34DB-48AB-89C0-39AF60B42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19B1B-1BC8-4710-8A1F-7DB2EC914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903F17-7E61-4A3E-8AF7-C052E732B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2848-31AF-4AB0-BBA1-CC69ABBD549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7E00F5-1288-441C-9BEF-082BF5790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42E3C7-606F-4099-AA3A-4ECA684BE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397D5-B8FA-4146-9268-5410D101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8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A4699-EF89-4389-82BD-A5D956D2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562D8-E37A-4B2E-99F7-C57B42543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2848-31AF-4AB0-BBA1-CC69ABBD549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92FB4B-E57C-4979-897F-691E50569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37128-A4F0-4A86-9119-FC2E099F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397D5-B8FA-4146-9268-5410D101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9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5F1B5D-5C48-4383-82E6-6A40BBE1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2848-31AF-4AB0-BBA1-CC69ABBD549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1F9BE-CCF5-4C4B-846B-3F7DF7DE3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3104D-5A8C-4DBA-A13A-9CCDC7A3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397D5-B8FA-4146-9268-5410D101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239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0F5D-DB25-48AE-88BC-D2ACA72AB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0B484-2B26-4F68-B6C2-4A7D9877B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2193D-D326-42A0-B348-1D1CA4DCF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73C79-1CD6-4206-8757-ABED0C61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2848-31AF-4AB0-BBA1-CC69ABBD549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D6715-2A90-41F6-AC79-0BD3A9D87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6B0FC-9198-4980-81A4-A62728A84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397D5-B8FA-4146-9268-5410D101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1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7549-9ECF-493F-B5D8-E21B6E4F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311A3B-A5E1-447B-B8ED-2D792917C2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B5DB0-D67E-423D-9AC5-10889DF3B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0C1D6-70BF-4218-8DF4-86DEC9D6F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2848-31AF-4AB0-BBA1-CC69ABBD549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984C9-B792-42FF-B40B-E078E9BD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CB2E5-E083-4F33-8CAB-6A8900ACD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397D5-B8FA-4146-9268-5410D101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66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8A652-96AB-427C-B2CA-15017F795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7D5E7-4A55-488B-80DD-5A7C8795A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033A5-4F5B-4707-8C03-5DFA15532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2848-31AF-4AB0-BBA1-CC69ABBD549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D9E44-C027-438C-B8D7-2FAE4519E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45989-BA2C-4D41-BF5A-7688FDAB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397D5-B8FA-4146-9268-5410D101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68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ACE8E0-019C-4C98-8D16-FE1A6D7C9E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E38C5-CB01-4A73-AE62-72218E0BB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56756-622A-45D8-8CAC-66AC8A403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32848-31AF-4AB0-BBA1-CC69ABBD549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63D40-D494-4FD6-A60C-DEFBBB50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332F2-70E9-440E-B14E-67B974C7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397D5-B8FA-4146-9268-5410D101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03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DE7C5D-6C6A-433C-9586-16CC1796D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FF8DB-38D2-4F24-A68E-BDEA40BED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E6293-BA5B-49F5-B769-863EAEB77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32848-31AF-4AB0-BBA1-CC69ABBD549A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5747D-F28B-4F43-A81B-5FF3C6B28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3ED4-397C-42FA-9D5A-963716CEF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397D5-B8FA-4146-9268-5410D1011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9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confluence.ext.net.nokia.com/pages/viewpage.action?pageId=2007639282#NCMTSPOGTopologyMFEUI-KeycloakService" TargetMode="External"/><Relationship Id="rId3" Type="http://schemas.openxmlformats.org/officeDocument/2006/relationships/hyperlink" Target="https://jiradc2.ext.net.nokia.com/browse/ACMTDEV-326" TargetMode="External"/><Relationship Id="rId7" Type="http://schemas.openxmlformats.org/officeDocument/2006/relationships/hyperlink" Target="https://confluence.ext.net.nokia.com/pages/viewpage.action?pageId=1983402452#NCMTSPOGSPOGhostapplication-KeycloakService" TargetMode="External"/><Relationship Id="rId2" Type="http://schemas.openxmlformats.org/officeDocument/2006/relationships/hyperlink" Target="https://jiradc2.ext.net.nokia.com/browse/ACMTDEV-32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labe2.ext.net.nokia.com/ncmt/spog/spog-ui/-/commits/develop/?ref_type=heads" TargetMode="External"/><Relationship Id="rId5" Type="http://schemas.openxmlformats.org/officeDocument/2006/relationships/hyperlink" Target="https://gitlabe2.ext.net.nokia.com/ncmt/spog/spog-ui/-/commits/feature/ACMTDEV-325-keycloak-implementation/?ref_type=heads" TargetMode="External"/><Relationship Id="rId4" Type="http://schemas.openxmlformats.org/officeDocument/2006/relationships/hyperlink" Target="https://jiradc2.ext.net.nokia.com/browse/ACMTDEV-327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B80F0-B5B3-406C-B964-B08BB05B66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CKEY Authentication 25.7</a:t>
            </a:r>
          </a:p>
        </p:txBody>
      </p:sp>
    </p:spTree>
    <p:extLst>
      <p:ext uri="{BB962C8B-B14F-4D97-AF65-F5344CB8AC3E}">
        <p14:creationId xmlns:p14="http://schemas.microsoft.com/office/powerpoint/2010/main" val="305956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ACC9F-DB3F-4168-8842-0A5FC9505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key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6AF49-6E33-4DFA-BB9F-3CFD1EB87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dirty="0">
                <a:latin typeface="Century Gothic" panose="020B0502020202020204" pitchFamily="34" charset="0"/>
              </a:rPr>
              <a:t>US’s: [ACMTDEV-</a:t>
            </a:r>
            <a:r>
              <a:rPr lang="en-US" sz="1000" dirty="0">
                <a:latin typeface="Century Gothic" panose="020B0502020202020204" pitchFamily="34" charset="0"/>
                <a:hlinkClick r:id="rId2"/>
              </a:rPr>
              <a:t>325</a:t>
            </a:r>
            <a:r>
              <a:rPr lang="en-US" sz="1000" dirty="0">
                <a:latin typeface="Century Gothic" panose="020B0502020202020204" pitchFamily="34" charset="0"/>
              </a:rPr>
              <a:t>-</a:t>
            </a:r>
            <a:r>
              <a:rPr lang="en-US" sz="1000" dirty="0">
                <a:latin typeface="Century Gothic" panose="020B0502020202020204" pitchFamily="34" charset="0"/>
                <a:hlinkClick r:id="rId3"/>
              </a:rPr>
              <a:t>326</a:t>
            </a:r>
            <a:r>
              <a:rPr lang="en-US" sz="1000" dirty="0">
                <a:latin typeface="Century Gothic" panose="020B0502020202020204" pitchFamily="34" charset="0"/>
              </a:rPr>
              <a:t>-</a:t>
            </a:r>
            <a:r>
              <a:rPr lang="en-US" sz="1000" dirty="0">
                <a:latin typeface="Century Gothic" panose="020B0502020202020204" pitchFamily="34" charset="0"/>
                <a:hlinkClick r:id="rId4"/>
              </a:rPr>
              <a:t>327</a:t>
            </a:r>
            <a:r>
              <a:rPr lang="en-US" sz="1000" dirty="0">
                <a:latin typeface="Century Gothic" panose="020B0502020202020204" pitchFamily="34" charset="0"/>
              </a:rPr>
              <a:t>]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dirty="0">
                <a:latin typeface="Century Gothic" panose="020B0502020202020204" pitchFamily="34" charset="0"/>
              </a:rPr>
              <a:t>Remote branch on </a:t>
            </a:r>
            <a:r>
              <a:rPr lang="en-US" sz="1000" dirty="0" err="1">
                <a:latin typeface="Century Gothic" panose="020B0502020202020204" pitchFamily="34" charset="0"/>
              </a:rPr>
              <a:t>gitlab</a:t>
            </a:r>
            <a:r>
              <a:rPr lang="en-US" sz="1000" dirty="0">
                <a:latin typeface="Century Gothic" panose="020B0502020202020204" pitchFamily="34" charset="0"/>
              </a:rPr>
              <a:t>: </a:t>
            </a:r>
            <a:r>
              <a:rPr lang="en-US" sz="1000" b="1" dirty="0">
                <a:latin typeface="Century Gothic" panose="020B0502020202020204" pitchFamily="34" charset="0"/>
                <a:hlinkClick r:id="rId5"/>
              </a:rPr>
              <a:t>feature/ACMTDEV-325-keycloak-implementation</a:t>
            </a:r>
            <a:r>
              <a:rPr lang="en-US" sz="1000" b="1" dirty="0">
                <a:latin typeface="Century Gothic" panose="020B0502020202020204" pitchFamily="34" charset="0"/>
              </a:rPr>
              <a:t> </a:t>
            </a:r>
            <a:r>
              <a:rPr lang="en-US" sz="1000" dirty="0">
                <a:latin typeface="Century Gothic" panose="020B0502020202020204" pitchFamily="34" charset="0"/>
              </a:rPr>
              <a:t>merge to </a:t>
            </a:r>
            <a:r>
              <a:rPr lang="en-US" sz="1000" b="1" dirty="0">
                <a:latin typeface="Century Gothic" panose="020B0502020202020204" pitchFamily="34" charset="0"/>
                <a:hlinkClick r:id="rId6"/>
              </a:rPr>
              <a:t>develop</a:t>
            </a:r>
            <a:endParaRPr lang="en-US" sz="1000" dirty="0">
              <a:latin typeface="Century Gothic" panose="020B0502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000" dirty="0">
                <a:latin typeface="Century Gothic" panose="020B0502020202020204" pitchFamily="34" charset="0"/>
              </a:rPr>
              <a:t>Set up </a:t>
            </a:r>
            <a:r>
              <a:rPr lang="en-US" sz="1000" dirty="0" err="1">
                <a:latin typeface="Century Gothic" panose="020B0502020202020204" pitchFamily="34" charset="0"/>
              </a:rPr>
              <a:t>Spotlab</a:t>
            </a:r>
            <a:r>
              <a:rPr lang="en-US" sz="1000" dirty="0">
                <a:latin typeface="Century Gothic" panose="020B0502020202020204" pitchFamily="34" charset="0"/>
              </a:rPr>
              <a:t> and run the ncmt_install.sh file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000" dirty="0">
                <a:latin typeface="Century Gothic" panose="020B0502020202020204" pitchFamily="34" charset="0"/>
              </a:rPr>
              <a:t>reproduce login, logout, notification modal to refresh session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000" dirty="0">
                <a:latin typeface="Century Gothic" panose="020B0502020202020204" pitchFamily="34" charset="0"/>
              </a:rPr>
              <a:t>Describe SPA OIDC authentication code flow</a:t>
            </a:r>
            <a:r>
              <a:rPr lang="el-GR" sz="1000" dirty="0">
                <a:latin typeface="Century Gothic" panose="020B0502020202020204" pitchFamily="34" charset="0"/>
              </a:rPr>
              <a:t> </a:t>
            </a:r>
            <a:endParaRPr lang="en-US" sz="1000" dirty="0">
              <a:latin typeface="Century Gothic" panose="020B0502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000" dirty="0">
                <a:latin typeface="Century Gothic" panose="020B0502020202020204" pitchFamily="34" charset="0"/>
              </a:rPr>
              <a:t>Run and describe tests if need it</a:t>
            </a:r>
          </a:p>
          <a:p>
            <a:pPr marL="457200" lvl="1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000" dirty="0">
              <a:latin typeface="Century Gothic" panose="020B0502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000" dirty="0">
                <a:latin typeface="Century Gothic" panose="020B0502020202020204" pitchFamily="34" charset="0"/>
              </a:rPr>
              <a:t> Documentations on Confluence Page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000" dirty="0">
                <a:latin typeface="Century Gothic" panose="020B0502020202020204" pitchFamily="34" charset="0"/>
                <a:hlinkClick r:id="rId7"/>
              </a:rPr>
              <a:t>SPOG host Application, </a:t>
            </a:r>
            <a:r>
              <a:rPr lang="en-US" sz="1000" dirty="0" err="1">
                <a:latin typeface="Century Gothic" panose="020B0502020202020204" pitchFamily="34" charset="0"/>
                <a:hlinkClick r:id="rId7"/>
              </a:rPr>
              <a:t>Keycloak</a:t>
            </a:r>
            <a:r>
              <a:rPr lang="en-US" sz="1000" dirty="0">
                <a:latin typeface="Century Gothic" panose="020B0502020202020204" pitchFamily="34" charset="0"/>
                <a:hlinkClick r:id="rId7"/>
              </a:rPr>
              <a:t> Service</a:t>
            </a:r>
            <a:endParaRPr lang="en-US" sz="1000" dirty="0">
              <a:latin typeface="Century Gothic" panose="020B0502020202020204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sz="1000" dirty="0">
                <a:latin typeface="Century Gothic" panose="020B0502020202020204" pitchFamily="34" charset="0"/>
                <a:hlinkClick r:id="rId8"/>
              </a:rPr>
              <a:t>Topology MFE </a:t>
            </a:r>
            <a:r>
              <a:rPr lang="en-US" sz="1000" dirty="0" err="1">
                <a:latin typeface="Century Gothic" panose="020B0502020202020204" pitchFamily="34" charset="0"/>
                <a:hlinkClick r:id="rId8"/>
              </a:rPr>
              <a:t>Keycloak</a:t>
            </a:r>
            <a:r>
              <a:rPr lang="en-US" sz="1000" dirty="0">
                <a:latin typeface="Century Gothic" panose="020B0502020202020204" pitchFamily="34" charset="0"/>
                <a:hlinkClick r:id="rId8"/>
              </a:rPr>
              <a:t> Service</a:t>
            </a:r>
            <a:endParaRPr lang="en-US" sz="1000" dirty="0">
              <a:latin typeface="Century Gothic" panose="020B0502020202020204" pitchFamily="34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111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ACC9F-DB3F-4168-8842-0A5FC9505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4892" y="0"/>
            <a:ext cx="5742215" cy="835025"/>
          </a:xfrm>
        </p:spPr>
        <p:txBody>
          <a:bodyPr>
            <a:normAutofit/>
          </a:bodyPr>
          <a:lstStyle/>
          <a:p>
            <a:pPr algn="ctr"/>
            <a:r>
              <a:rPr lang="en-US" sz="1800" b="1" u="sng" dirty="0"/>
              <a:t>Jenkins Pipeline</a:t>
            </a:r>
          </a:p>
        </p:txBody>
      </p:sp>
      <p:pic>
        <p:nvPicPr>
          <p:cNvPr id="11" name="Content Placeholder 10" descr="A screenshot of a computer&#10;&#10;Description automatically generated">
            <a:extLst>
              <a:ext uri="{FF2B5EF4-FFF2-40B4-BE49-F238E27FC236}">
                <a16:creationId xmlns:a16="http://schemas.microsoft.com/office/drawing/2014/main" id="{26FC999D-0553-42A7-9A68-69901BA4E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79" y="677636"/>
            <a:ext cx="11453441" cy="6049736"/>
          </a:xfrm>
        </p:spPr>
      </p:pic>
    </p:spTree>
    <p:extLst>
      <p:ext uri="{BB962C8B-B14F-4D97-AF65-F5344CB8AC3E}">
        <p14:creationId xmlns:p14="http://schemas.microsoft.com/office/powerpoint/2010/main" val="1487380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8117DC47-F6C8-4053-A34A-E459BBEDA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3121"/>
            <a:ext cx="11996853" cy="6294879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2467E54-51C3-48A1-848E-B05959D2E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135" y="32442"/>
            <a:ext cx="5216582" cy="530679"/>
          </a:xfrm>
        </p:spPr>
        <p:txBody>
          <a:bodyPr>
            <a:normAutofit/>
          </a:bodyPr>
          <a:lstStyle/>
          <a:p>
            <a:pPr algn="ctr"/>
            <a:r>
              <a:rPr lang="en-US" sz="1800" b="1" u="sng" dirty="0"/>
              <a:t>Jenkins Pipeline</a:t>
            </a:r>
          </a:p>
        </p:txBody>
      </p:sp>
    </p:spTree>
    <p:extLst>
      <p:ext uri="{BB962C8B-B14F-4D97-AF65-F5344CB8AC3E}">
        <p14:creationId xmlns:p14="http://schemas.microsoft.com/office/powerpoint/2010/main" val="3300747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5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1" name="Picture 7" descr="sequenceDiagram&#10;    participant User&#10;    participant Browser (SPA)&#10;    participant IdentityProvider&#10;&#10;    User-&gt;&gt;Browser (SPA): Access Application&#10;    Browser (SPA)-&gt;&gt;Browser (SPA): Check local token&#10;    alt No token or expired&#10;        Browser (SPA)-&gt;&gt;IdentityProvider: Redirect to AuthZ Endpoint (with PKCE)&#10;        IdentityProvider-&gt;&gt;User: Prompt Login&#10;        User-&gt;&gt;IdentityProvider: Submit Credentials&#10;        IdentityProvider--&gt;&gt;Browser (SPA): Redirect with Auth Code&#10;        Browser (SPA)-&gt;&gt;IdentityProvider: Exchange Code for Tokens (POST)&#10;        IdentityProvider--&gt;&gt;Browser (SPA): Return ID Token + Access Token&#10;        Browser (SPA)-&gt;&gt;Browser (SPA): Store Tokens&#10;        Browser (SPA)--&gt;&gt;User : Show NCMT Page&#10;    else Token valid&#10;        Browser (SPA)-&gt;&gt;Browser (SPA): Use token for API calls&#10;    end">
            <a:extLst>
              <a:ext uri="{FF2B5EF4-FFF2-40B4-BE49-F238E27FC236}">
                <a16:creationId xmlns:a16="http://schemas.microsoft.com/office/drawing/2014/main" id="{F1F966DF-1964-4F17-8408-D62DBFD68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0839" y="849392"/>
            <a:ext cx="4568116" cy="5454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E56D19-471D-4000-8330-E42EED13BB0D}"/>
              </a:ext>
            </a:extLst>
          </p:cNvPr>
          <p:cNvSpPr txBox="1"/>
          <p:nvPr/>
        </p:nvSpPr>
        <p:spPr>
          <a:xfrm>
            <a:off x="1624816" y="508420"/>
            <a:ext cx="3162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SPA OIDC Authentication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CD2408-3821-4FBA-A591-0FC61391E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405" y="535520"/>
            <a:ext cx="4863043" cy="584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06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4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948010-E643-4295-9336-429F63F6D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972" y="643467"/>
            <a:ext cx="3049909" cy="5571066"/>
          </a:xfrm>
          <a:prstGeom prst="rect">
            <a:avLst/>
          </a:prstGeom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sequenceDiagram&#10;    participant User&#10;    participant Frontend&#10;    participant Backend&#10;    participant Keycloak&#10;&#10;    User-&gt;&gt;Frontend: Access NCMT Page&#10;    Frontend-&gt;&gt;Frontend: Check Keycloak Session&#10;    alt No Session Exists&#10;        Frontend--&gt;&gt;User: 401 Unauthorized&#10;        User-&gt;&gt;Frontend: Trigger /login&#10;        Frontend-&gt;&gt;Backend: Redirect /login&#10;        Backend--&gt;&gt;User: 302 to Keycloak Auth&#10;        User-&gt;&gt;Keycloak: Authenticate&#10;        Keycloak--&gt;&gt;User: 302 to /callback with auth code&#10;        User-&gt;&gt;Backend: Call /callback with code&#10;        Backend-&gt;&gt;Keycloak: Exchange code for tokens&#10;        Keycloak--&gt;&gt;Backend: Return tokens&#10;        Backend-&gt;&gt;Backend: Store tokens, set session cookie&#10;        Frontend-&gt;&gt;Backend: Request /auth/session&#10;        Backend--&gt;&gt;Frontend: 200 OK with user info&#10;        Frontend--&gt;&gt;User: Show NCMT page&#10;    else Session Exists&#10;        Frontend-&gt;&gt;Backend: Request /auth/session&#10;        Backend--&gt;&gt;Frontend: 200 OK with user info&#10;        Frontend--&gt;&gt;User: Show NCMT page&#10;    end">
            <a:extLst>
              <a:ext uri="{FF2B5EF4-FFF2-40B4-BE49-F238E27FC236}">
                <a16:creationId xmlns:a16="http://schemas.microsoft.com/office/drawing/2014/main" id="{5AA2D608-B680-49C8-B6A0-2B7CC76C6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9562" y="806874"/>
            <a:ext cx="4303648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3DC0B7-123B-42E1-AE64-4D305A94CB0F}"/>
              </a:ext>
            </a:extLst>
          </p:cNvPr>
          <p:cNvSpPr txBox="1"/>
          <p:nvPr/>
        </p:nvSpPr>
        <p:spPr>
          <a:xfrm>
            <a:off x="651739" y="480060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OIDC Authentication Flow with AS</a:t>
            </a:r>
          </a:p>
        </p:txBody>
      </p:sp>
    </p:spTree>
    <p:extLst>
      <p:ext uri="{BB962C8B-B14F-4D97-AF65-F5344CB8AC3E}">
        <p14:creationId xmlns:p14="http://schemas.microsoft.com/office/powerpoint/2010/main" val="2439590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4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60ECC3-0D54-45DE-BFC4-971C078E2483}"/>
              </a:ext>
            </a:extLst>
          </p:cNvPr>
          <p:cNvSpPr/>
          <p:nvPr/>
        </p:nvSpPr>
        <p:spPr>
          <a:xfrm>
            <a:off x="541793" y="1238071"/>
            <a:ext cx="511302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Century Gothic" panose="020B0502020202020204" pitchFamily="34" charset="0"/>
              </a:rPr>
              <a:t>SPA OIDC Authentication Workflow</a:t>
            </a:r>
            <a:br>
              <a:rPr lang="en-US" sz="1400" b="1" dirty="0">
                <a:latin typeface="Century Gothic" panose="020B0502020202020204" pitchFamily="34" charset="0"/>
              </a:rPr>
            </a:br>
            <a:br>
              <a:rPr lang="en-US" sz="1400" b="1" dirty="0">
                <a:latin typeface="Century Gothic" panose="020B0502020202020204" pitchFamily="34" charset="0"/>
              </a:rPr>
            </a:br>
            <a:br>
              <a:rPr lang="en-US" sz="1400" b="1" dirty="0">
                <a:latin typeface="Century Gothic" panose="020B0502020202020204" pitchFamily="34" charset="0"/>
              </a:rPr>
            </a:br>
            <a:r>
              <a:rPr lang="en-US" sz="1400" dirty="0">
                <a:latin typeface="Century Gothic" panose="020B0502020202020204" pitchFamily="34" charset="0"/>
              </a:rPr>
              <a:t> OIDC authentication flow for Single Page Application (SPA) using </a:t>
            </a:r>
            <a:r>
              <a:rPr lang="en-US" sz="1400" dirty="0" err="1">
                <a:latin typeface="Century Gothic" panose="020B0502020202020204" pitchFamily="34" charset="0"/>
              </a:rPr>
              <a:t>Keycloak</a:t>
            </a:r>
            <a:r>
              <a:rPr lang="en-US" sz="1400" dirty="0">
                <a:latin typeface="Century Gothic" panose="020B0502020202020204" pitchFamily="34" charset="0"/>
              </a:rPr>
              <a:t>, authenticates users (on web applications) by redirecting them to the OIDC provider (like </a:t>
            </a:r>
            <a:r>
              <a:rPr lang="en-US" sz="1400" dirty="0" err="1">
                <a:latin typeface="Century Gothic" panose="020B0502020202020204" pitchFamily="34" charset="0"/>
              </a:rPr>
              <a:t>Keycloak</a:t>
            </a:r>
            <a:r>
              <a:rPr lang="en-US" sz="1400" dirty="0">
                <a:latin typeface="Century Gothic" panose="020B0502020202020204" pitchFamily="34" charset="0"/>
              </a:rPr>
              <a:t>, Google or Auth0), where they authenticate, and then </a:t>
            </a:r>
            <a:r>
              <a:rPr lang="en-US" sz="1400" u="sng" dirty="0">
                <a:highlight>
                  <a:srgbClr val="FFFF00"/>
                </a:highlight>
                <a:latin typeface="Century Gothic" panose="020B0502020202020204" pitchFamily="34" charset="0"/>
              </a:rPr>
              <a:t>exchanging an authorization code for an access token and ID token on the client-side</a:t>
            </a:r>
            <a:r>
              <a:rPr lang="en-US" sz="1400" dirty="0">
                <a:latin typeface="Century Gothic" panose="020B0502020202020204" pitchFamily="34" charset="0"/>
              </a:rPr>
              <a:t>. This flow </a:t>
            </a:r>
            <a:r>
              <a:rPr lang="en-US" sz="1400" u="sng" dirty="0">
                <a:highlight>
                  <a:srgbClr val="FFFF00"/>
                </a:highlight>
                <a:latin typeface="Century Gothic" panose="020B0502020202020204" pitchFamily="34" charset="0"/>
              </a:rPr>
              <a:t>has security risks</a:t>
            </a:r>
            <a:r>
              <a:rPr lang="en-US" sz="1400" dirty="0">
                <a:latin typeface="Century Gothic" panose="020B0502020202020204" pitchFamily="34" charset="0"/>
              </a:rPr>
              <a:t> by </a:t>
            </a:r>
            <a:r>
              <a:rPr lang="en-US" sz="1400" u="sng" dirty="0">
                <a:highlight>
                  <a:srgbClr val="FFFF00"/>
                </a:highlight>
                <a:latin typeface="Century Gothic" panose="020B0502020202020204" pitchFamily="34" charset="0"/>
              </a:rPr>
              <a:t>keeping sensitive information</a:t>
            </a:r>
            <a:r>
              <a:rPr lang="en-US" sz="1400" dirty="0">
                <a:latin typeface="Century Gothic" panose="020B0502020202020204" pitchFamily="34" charset="0"/>
              </a:rPr>
              <a:t> like </a:t>
            </a:r>
            <a:r>
              <a:rPr lang="en-US" sz="1400" u="sng" dirty="0">
                <a:highlight>
                  <a:srgbClr val="FFFF00"/>
                </a:highlight>
                <a:latin typeface="Century Gothic" panose="020B0502020202020204" pitchFamily="34" charset="0"/>
              </a:rPr>
              <a:t>tokens on the client-side</a:t>
            </a:r>
            <a:r>
              <a:rPr lang="en-US" sz="1400" dirty="0">
                <a:latin typeface="Century Gothic" panose="020B0502020202020204" pitchFamily="34" charset="0"/>
              </a:rPr>
              <a:t> and allowing </a:t>
            </a:r>
            <a:r>
              <a:rPr lang="en-US" sz="1400" u="sng" dirty="0">
                <a:highlight>
                  <a:srgbClr val="FFFF00"/>
                </a:highlight>
                <a:latin typeface="Century Gothic" panose="020B0502020202020204" pitchFamily="34" charset="0"/>
              </a:rPr>
              <a:t>the front-end</a:t>
            </a:r>
            <a:r>
              <a:rPr lang="en-US" sz="1400" u="sng" dirty="0">
                <a:latin typeface="Century Gothic" panose="020B0502020202020204" pitchFamily="34" charset="0"/>
              </a:rPr>
              <a:t> </a:t>
            </a:r>
            <a:r>
              <a:rPr lang="en-US" sz="1400" dirty="0">
                <a:latin typeface="Century Gothic" panose="020B0502020202020204" pitchFamily="34" charset="0"/>
              </a:rPr>
              <a:t>to </a:t>
            </a:r>
            <a:r>
              <a:rPr lang="en-US" sz="1400" u="sng" dirty="0">
                <a:highlight>
                  <a:srgbClr val="FFFF00"/>
                </a:highlight>
                <a:latin typeface="Century Gothic" panose="020B0502020202020204" pitchFamily="34" charset="0"/>
              </a:rPr>
              <a:t>manage access to protected resources by sending tokens in each request to the backend</a:t>
            </a:r>
            <a:r>
              <a:rPr lang="en-US" sz="1400" dirty="0">
                <a:latin typeface="Century Gothic" panose="020B0502020202020204" pitchFamily="34" charset="0"/>
              </a:rPr>
              <a:t>. </a:t>
            </a:r>
            <a:endParaRPr lang="en-US" sz="1400" dirty="0"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278901-8D34-48CA-BB0D-39213C990DA4}"/>
              </a:ext>
            </a:extLst>
          </p:cNvPr>
          <p:cNvSpPr/>
          <p:nvPr/>
        </p:nvSpPr>
        <p:spPr>
          <a:xfrm>
            <a:off x="6313929" y="1234082"/>
            <a:ext cx="5336278" cy="2551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2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172B4D"/>
                </a:solidFill>
                <a:latin typeface="Century Gothic" panose="020B0502020202020204" pitchFamily="34" charset="0"/>
              </a:rPr>
              <a:t>Backend </a:t>
            </a:r>
            <a:r>
              <a:rPr lang="en-US" sz="1400" b="1" dirty="0" err="1">
                <a:solidFill>
                  <a:srgbClr val="172B4D"/>
                </a:solidFill>
                <a:latin typeface="Century Gothic" panose="020B0502020202020204" pitchFamily="34" charset="0"/>
              </a:rPr>
              <a:t>oidc</a:t>
            </a:r>
            <a:r>
              <a:rPr lang="en-US" sz="1400" b="1" dirty="0">
                <a:solidFill>
                  <a:srgbClr val="172B4D"/>
                </a:solidFill>
                <a:latin typeface="Century Gothic" panose="020B0502020202020204" pitchFamily="34" charset="0"/>
              </a:rPr>
              <a:t> authentication code flow</a:t>
            </a:r>
            <a:br>
              <a:rPr lang="en-US" sz="1400" b="1" dirty="0">
                <a:solidFill>
                  <a:srgbClr val="172B4D"/>
                </a:solidFill>
                <a:latin typeface="Century Gothic" panose="020B0502020202020204" pitchFamily="34" charset="0"/>
              </a:rPr>
            </a:br>
            <a:r>
              <a:rPr lang="en-US" sz="1400" b="1" dirty="0">
                <a:solidFill>
                  <a:srgbClr val="172B4D"/>
                </a:solidFill>
                <a:latin typeface="Century Gothic" panose="020B0502020202020204" pitchFamily="34" charset="0"/>
              </a:rPr>
              <a:t>Authentication Service (AS)</a:t>
            </a:r>
            <a:endParaRPr lang="en-US" sz="1400" dirty="0">
              <a:solidFill>
                <a:srgbClr val="172B4D"/>
              </a:solidFill>
              <a:latin typeface="Century Gothic" panose="020B0502020202020204" pitchFamily="34" charset="0"/>
            </a:endParaRPr>
          </a:p>
          <a:p>
            <a:pPr algn="ctr">
              <a:spcBef>
                <a:spcPts val="70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The OpenID Connect (OIDC) Authorization Code Flow with backend authentication service securely authenticates users (on web applications) by redirecting them to the OIDC provider (like 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Keycloak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, Google or Auth0), </a:t>
            </a: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where they authenticate, and then exchanging an authorization code for an access token and ID token on the server-side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. This flow </a:t>
            </a: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enhances security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by </a:t>
            </a: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keeping sensitive information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like tokens </a:t>
            </a: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off the client-side 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and </a:t>
            </a: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allowing the backend to manage access to protected resources.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96985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Rectangle 2072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5" name="Rectangle 2074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5A59D5-E013-4741-8AF5-D89886E22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937" y="565951"/>
            <a:ext cx="3649980" cy="5726097"/>
          </a:xfrm>
          <a:prstGeom prst="rect">
            <a:avLst/>
          </a:prstGeom>
        </p:spPr>
      </p:pic>
      <p:sp>
        <p:nvSpPr>
          <p:cNvPr id="2077" name="Rectangle 2076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6C9954-2CD5-4355-9EE8-CA8ED62B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19" y="565950"/>
            <a:ext cx="4957305" cy="572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2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4E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sequenceDiagram&#10;    participant User&#10;    participant Frontend&#10;    participant Backend&#10;    participant Keycloak&#10;&#10;    User-&gt;&gt;Frontend: Access NCMT Page&#10;    Frontend-&gt;&gt;Frontend: Check Keycloak Session&#10;    alt No Session Exists&#10;        Frontend--&gt;&gt;User: 401 Unauthorized&#10;        User-&gt;&gt;Frontend: Trigger /login&#10;        Frontend-&gt;&gt;Backend: Redirect /login&#10;        Backend--&gt;&gt;User: 302 to Keycloak Auth&#10;        User-&gt;&gt;Keycloak: Authenticate&#10;        Keycloak--&gt;&gt;User: 302 to /callback with auth code&#10;        User-&gt;&gt;Backend: Call /callback with code&#10;        Backend-&gt;&gt;Keycloak: Exchange code for tokens&#10;        Keycloak--&gt;&gt;Backend: Return tokens&#10;        Backend-&gt;&gt;Backend: Store tokens, set session cookie&#10;        Frontend-&gt;&gt;Backend: Request /auth/session&#10;        Backend--&gt;&gt;Frontend: 200 OK with user info&#10;        Frontend--&gt;&gt;User: Show NCMT page&#10;    else Session Exists&#10;        Frontend-&gt;&gt;Backend: Request /auth/session&#10;        Backend--&gt;&gt;Frontend: 200 OK with user info&#10;        Frontend--&gt;&gt;User: Show NCMT page&#10;    end">
            <a:extLst>
              <a:ext uri="{FF2B5EF4-FFF2-40B4-BE49-F238E27FC236}">
                <a16:creationId xmlns:a16="http://schemas.microsoft.com/office/drawing/2014/main" id="{5AA2D608-B680-49C8-B6A0-2B7CC76C6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34103" y="643467"/>
            <a:ext cx="4303648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sequenceDiagram&#10;    participant User&#10;    participant Browser (SPA)&#10;    participant IdentityProvider&#10;&#10;    User-&gt;&gt;Browser (SPA): Access Application&#10;    Browser (SPA)-&gt;&gt;Browser (SPA): Check local token&#10;    alt No token or expired&#10;        Browser (SPA)-&gt;&gt;IdentityProvider: Redirect to AuthZ Endpoint (with PKCE)&#10;        IdentityProvider-&gt;&gt;User: Prompt Login&#10;        User-&gt;&gt;IdentityProvider: Submit Credentials&#10;        IdentityProvider--&gt;&gt;Browser (SPA): Redirect with Auth Code&#10;        Browser (SPA)-&gt;&gt;IdentityProvider: Exchange Code for Tokens (POST)&#10;        IdentityProvider--&gt;&gt;Browser (SPA): Return ID Token + Access Token&#10;        Browser (SPA)-&gt;&gt;Browser (SPA): Store Tokens&#10;        Browser (SPA)--&gt;&gt;User : Show NCMT Page&#10;    else Token valid&#10;        Browser (SPA)-&gt;&gt;Browser (SPA): Use token for API calls&#10;    end">
            <a:extLst>
              <a:ext uri="{FF2B5EF4-FFF2-40B4-BE49-F238E27FC236}">
                <a16:creationId xmlns:a16="http://schemas.microsoft.com/office/drawing/2014/main" id="{D4BF72AC-BDE6-4556-BA8F-E0373E5A2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3188" y="643467"/>
            <a:ext cx="4665767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860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CD78F023E562438E21C492FBF6B3AB" ma:contentTypeVersion="10" ma:contentTypeDescription="Create a new document." ma:contentTypeScope="" ma:versionID="f8359d2a4e0cfa5b029935d373c4361d">
  <xsd:schema xmlns:xsd="http://www.w3.org/2001/XMLSchema" xmlns:xs="http://www.w3.org/2001/XMLSchema" xmlns:p="http://schemas.microsoft.com/office/2006/metadata/properties" xmlns:ns3="6fd22f89-9085-4c9e-b525-9572d0e8f681" targetNamespace="http://schemas.microsoft.com/office/2006/metadata/properties" ma:root="true" ma:fieldsID="3332b31003a9271dbb4e68db30ecaa0c" ns3:_="">
    <xsd:import namespace="6fd22f89-9085-4c9e-b525-9572d0e8f68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d22f89-9085-4c9e-b525-9572d0e8f68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fd22f89-9085-4c9e-b525-9572d0e8f681" xsi:nil="true"/>
  </documentManagement>
</p:properties>
</file>

<file path=customXml/itemProps1.xml><?xml version="1.0" encoding="utf-8"?>
<ds:datastoreItem xmlns:ds="http://schemas.openxmlformats.org/officeDocument/2006/customXml" ds:itemID="{725FC6BC-A70F-465E-A153-D79927174F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d22f89-9085-4c9e-b525-9572d0e8f6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7FCAEE-C1BD-4F12-8A8A-3086F9712B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29BE3B-54DA-462B-BF6B-D194F666EEA7}">
  <ds:schemaRefs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6fd22f89-9085-4c9e-b525-9572d0e8f68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275</Words>
  <Application>Microsoft Office PowerPoint</Application>
  <PresentationFormat>Widescreen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Office Theme</vt:lpstr>
      <vt:lpstr>CKEY Authentication 25.7</vt:lpstr>
      <vt:lpstr>Presentation key points</vt:lpstr>
      <vt:lpstr>Jenkins Pipeline</vt:lpstr>
      <vt:lpstr>Jenkins Pipeline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CKEY Authentication 25.7</dc:title>
  <dc:creator>Konstantinos Berdelis (Nokia)</dc:creator>
  <cp:lastModifiedBy>Konstantinos Berdelis (Nokia)</cp:lastModifiedBy>
  <cp:revision>11</cp:revision>
  <dcterms:created xsi:type="dcterms:W3CDTF">2025-05-19T08:20:03Z</dcterms:created>
  <dcterms:modified xsi:type="dcterms:W3CDTF">2025-05-20T08:56:02Z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0x01010094CD78F023E562438E21C492FBF6B3AB</vt:lpwstr>
  </property>
</Properties>
</file>